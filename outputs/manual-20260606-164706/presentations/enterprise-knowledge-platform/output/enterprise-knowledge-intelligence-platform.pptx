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55134e99fb041f4" /><Relationship Type="http://schemas.openxmlformats.org/officeDocument/2006/relationships/extended-properties" Target="/docProps/app.xml" Id="R40988d9e40fd4c11" /><Relationship Type="http://schemas.openxmlformats.org/officeDocument/2006/relationships/officeDocument" Target="/ppt/presentation.xml" Id="R9efb3c07d7324ec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a6836f9b1184feb"/>
  </p:sldMasterIdLst>
  <p:notesMasterIdLst>
    <p:notesMasterId xmlns:r="http://schemas.openxmlformats.org/officeDocument/2006/relationships" r:id="R03e04d35df2041b6"/>
  </p:notesMasterIdLst>
  <p:sldIdLst>
    <p:sldId xmlns:r="http://schemas.openxmlformats.org/officeDocument/2006/relationships" id="256" r:id="R004dee19861949c4"/>
    <p:sldId xmlns:r="http://schemas.openxmlformats.org/officeDocument/2006/relationships" id="257" r:id="R3d05f9a9b01d4abd"/>
    <p:sldId xmlns:r="http://schemas.openxmlformats.org/officeDocument/2006/relationships" id="258" r:id="Rb290574dd5a24e62"/>
    <p:sldId xmlns:r="http://schemas.openxmlformats.org/officeDocument/2006/relationships" id="259" r:id="R3451fff1fcdc4986"/>
    <p:sldId xmlns:r="http://schemas.openxmlformats.org/officeDocument/2006/relationships" id="260" r:id="R70ebb50735944181"/>
    <p:sldId xmlns:r="http://schemas.openxmlformats.org/officeDocument/2006/relationships" id="261" r:id="R506221b7a7034cbe"/>
    <p:sldId xmlns:r="http://schemas.openxmlformats.org/officeDocument/2006/relationships" id="262" r:id="R7f7ba86e6e814913"/>
    <p:sldId xmlns:r="http://schemas.openxmlformats.org/officeDocument/2006/relationships" id="263" r:id="R46658abc8c8149a7"/>
    <p:sldId xmlns:r="http://schemas.openxmlformats.org/officeDocument/2006/relationships" id="264" r:id="Rbebe7ac65ad64bdf"/>
    <p:sldId xmlns:r="http://schemas.openxmlformats.org/officeDocument/2006/relationships" id="265" r:id="R919c3993051d45f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d2866f997d34522" /><Relationship Type="http://schemas.openxmlformats.org/officeDocument/2006/relationships/slideMaster" Target="/ppt/slideMasters/slideMaster1.xml" Id="R0a6836f9b1184feb" /><Relationship Type="http://schemas.openxmlformats.org/officeDocument/2006/relationships/notesMaster" Target="/ppt/notesMasters/notesMaster1.xml" Id="R03e04d35df2041b6" /><Relationship Type="http://schemas.openxmlformats.org/officeDocument/2006/relationships/presProps" Target="/ppt/presProps.xml" Id="R0fb5f59b39194aaa" /><Relationship Type="http://schemas.openxmlformats.org/officeDocument/2006/relationships/viewProps" Target="/ppt/viewProps.xml" Id="R1f9b09aac8c147b5" /><Relationship Type="http://schemas.openxmlformats.org/officeDocument/2006/relationships/tableStyles" Target="/ppt/tableStyles.xml" Id="Rc5e1d52600f94291" /><Relationship Type="http://schemas.openxmlformats.org/officeDocument/2006/relationships/slide" Target="/ppt/slides/slide1.xml" Id="R004dee19861949c4" /><Relationship Type="http://schemas.openxmlformats.org/officeDocument/2006/relationships/slide" Target="/ppt/slides/slide2.xml" Id="R3d05f9a9b01d4abd" /><Relationship Type="http://schemas.openxmlformats.org/officeDocument/2006/relationships/slide" Target="/ppt/slides/slide3.xml" Id="Rb290574dd5a24e62" /><Relationship Type="http://schemas.openxmlformats.org/officeDocument/2006/relationships/slide" Target="/ppt/slides/slide4.xml" Id="R3451fff1fcdc4986" /><Relationship Type="http://schemas.openxmlformats.org/officeDocument/2006/relationships/slide" Target="/ppt/slides/slide5.xml" Id="R70ebb50735944181" /><Relationship Type="http://schemas.openxmlformats.org/officeDocument/2006/relationships/slide" Target="/ppt/slides/slide6.xml" Id="R506221b7a7034cbe" /><Relationship Type="http://schemas.openxmlformats.org/officeDocument/2006/relationships/slide" Target="/ppt/slides/slide7.xml" Id="R7f7ba86e6e814913" /><Relationship Type="http://schemas.openxmlformats.org/officeDocument/2006/relationships/slide" Target="/ppt/slides/slide8.xml" Id="R46658abc8c8149a7" /><Relationship Type="http://schemas.openxmlformats.org/officeDocument/2006/relationships/slide" Target="/ppt/slides/slide9.xml" Id="Rbebe7ac65ad64bdf" /><Relationship Type="http://schemas.openxmlformats.org/officeDocument/2006/relationships/slide" Target="/ppt/slides/slide10.xml" Id="R919c3993051d45f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e12fd6572df498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c79f44a388c4b70" /><Relationship Type="http://schemas.openxmlformats.org/officeDocument/2006/relationships/notesMaster" Target="/ppt/notesMasters/notesMaster1.xml" Id="R882725b201004bd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7a66ddf5e3b402f" /><Relationship Type="http://schemas.openxmlformats.org/officeDocument/2006/relationships/notesMaster" Target="/ppt/notesMasters/notesMaster1.xml" Id="R55bfaf55111e4c4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bf89a157dc14db5" /><Relationship Type="http://schemas.openxmlformats.org/officeDocument/2006/relationships/notesMaster" Target="/ppt/notesMasters/notesMaster1.xml" Id="Rb20945176ef244b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10535942d9e4ca2" /><Relationship Type="http://schemas.openxmlformats.org/officeDocument/2006/relationships/notesMaster" Target="/ppt/notesMasters/notesMaster1.xml" Id="Rd497552a280a480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00557abfee64a9f" /><Relationship Type="http://schemas.openxmlformats.org/officeDocument/2006/relationships/notesMaster" Target="/ppt/notesMasters/notesMaster1.xml" Id="R809c880c57e748e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804d66c4dfe4301" /><Relationship Type="http://schemas.openxmlformats.org/officeDocument/2006/relationships/notesMaster" Target="/ppt/notesMasters/notesMaster1.xml" Id="R920dc1a087394db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c3f74d935174515" /><Relationship Type="http://schemas.openxmlformats.org/officeDocument/2006/relationships/notesMaster" Target="/ppt/notesMasters/notesMaster1.xml" Id="R44a79b8954604d3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4c2fa57ad4749bd" /><Relationship Type="http://schemas.openxmlformats.org/officeDocument/2006/relationships/notesMaster" Target="/ppt/notesMasters/notesMaster1.xml" Id="Rc8446539084e472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538712459b74e36" /><Relationship Type="http://schemas.openxmlformats.org/officeDocument/2006/relationships/notesMaster" Target="/ppt/notesMasters/notesMaster1.xml" Id="R74e152f68e6b42b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8dda199db334972" /><Relationship Type="http://schemas.openxmlformats.org/officeDocument/2006/relationships/notesMaster" Target="/ppt/notesMasters/notesMaster1.xml" Id="R6157a4bbcf8e4db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c8d9d1d04c430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049d223dec44c0a" /><Relationship Type="http://schemas.openxmlformats.org/officeDocument/2006/relationships/slideLayout" Target="/ppt/slideLayouts/slideLayout1.xml" Id="R506c47e84f94417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06c47e84f94417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825f01681e407f" /><Relationship Type="http://schemas.openxmlformats.org/officeDocument/2006/relationships/notesSlide" Target="/ppt/notesSlides/notesSlide1.xml" Id="R5dacb5120a7d4aa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3fb48ceae24fb7" /><Relationship Type="http://schemas.openxmlformats.org/officeDocument/2006/relationships/notesSlide" Target="/ppt/notesSlides/notesSlide2.xml" Id="R94b1da8271cc484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fcfcd6472348d8" /><Relationship Type="http://schemas.openxmlformats.org/officeDocument/2006/relationships/notesSlide" Target="/ppt/notesSlides/notesSlide3.xml" Id="Rf4af62248f114fc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de93f748314d67" /><Relationship Type="http://schemas.openxmlformats.org/officeDocument/2006/relationships/notesSlide" Target="/ppt/notesSlides/notesSlide4.xml" Id="Re92c03a26e87411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9b1e8447564064" /><Relationship Type="http://schemas.openxmlformats.org/officeDocument/2006/relationships/notesSlide" Target="/ppt/notesSlides/notesSlide5.xml" Id="R8b99fcd20e534c6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40301e01f54e52" /><Relationship Type="http://schemas.openxmlformats.org/officeDocument/2006/relationships/notesSlide" Target="/ppt/notesSlides/notesSlide6.xml" Id="R13fe33cf3aa54b1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86c530da3c4eac" /><Relationship Type="http://schemas.openxmlformats.org/officeDocument/2006/relationships/notesSlide" Target="/ppt/notesSlides/notesSlide7.xml" Id="R2c64ad7ea9c240e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d2c11e58754bc6" /><Relationship Type="http://schemas.openxmlformats.org/officeDocument/2006/relationships/notesSlide" Target="/ppt/notesSlides/notesSlide8.xml" Id="R50862c173f39472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b7d8970fc34af6" /><Relationship Type="http://schemas.openxmlformats.org/officeDocument/2006/relationships/notesSlide" Target="/ppt/notesSlides/notesSlide9.xml" Id="Rea7b4c9bf67b46f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c75c8e02ec4f31" /><Relationship Type="http://schemas.openxmlformats.org/officeDocument/2006/relationships/notesSlide" Target="/ppt/notesSlides/notesSlide10.xml" Id="R2c0d3c91519a4ec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82834B4-E561-4EDA-B1FB-3879C82E1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B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634F23-79B5-4782-B113-D6B38E39A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B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6C4F28-E16E-461D-8703-37603E6CD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0FF55C-65CF-4AE0-A4E5-06665EE7D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876300"/>
            <a:ext cx="33337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412"/>
            </a:srgbClr>
          </a:solidFill>
          <a:ln xmlns:a="http://schemas.openxmlformats.org/drawingml/2006/main" w="9525">
            <a:solidFill>
              <a:srgbClr val="FFFFFF">
                <a:alpha val="25098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CA5B64-0927-4843-B3C6-3A0B2E941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447800"/>
            <a:ext cx="2190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46AFE4-A0D2-4E1D-8897-98E662AB3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438400"/>
            <a:ext cx="2190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68550C-AC30-4853-90B2-65245317B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429000"/>
            <a:ext cx="2190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C04ED2-05C0-406A-A35E-B0D5ED59B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676400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81B3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1B3A"/>
                </a:solidFill>
                <a:latin typeface="Aptos"/>
                <a:ea typeface="Aptos"/>
                <a:cs typeface="Aptos"/>
              </a:rPr>
              <a:t>Enterprise Docs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7F7439-3E39-4FAB-A79B-73479E144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67000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Agentic RAG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2D0E3D-6D76-4913-8D0B-2A3D5B846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57600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81B3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1B3A"/>
                </a:solidFill>
                <a:latin typeface="Aptos"/>
                <a:ea typeface="Aptos"/>
                <a:cs typeface="Aptos"/>
              </a:rPr>
              <a:t>Grounded Answer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D4FD18-6016-4EA0-9DF9-0113F6C76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304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3C5F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93C5FD"/>
                </a:solidFill>
                <a:latin typeface="Aptos"/>
                <a:ea typeface="Aptos"/>
                <a:cs typeface="Aptos"/>
              </a:rPr>
              <a:t>ENTERPRISE AI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7AFAC4-F67A-4553-8F4D-B9A6ED600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5905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Enterprise Knowledge</a:t>
            </a:r>
          </a:p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Intelligence Platform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AA2D1F-9093-40A3-8DE0-9FD4E43B7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581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8E9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8E9FF"/>
                </a:solidFill>
                <a:latin typeface="Aptos"/>
                <a:ea typeface="Aptos"/>
                <a:cs typeface="Aptos"/>
              </a:rPr>
              <a:t>Fine-tuned LLMs, multi-agent RAG, evaluation pipelines, Docker deployment, and enterprise document intelligence.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487A6B-4577-47AD-BB02-89401185A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05300"/>
            <a:ext cx="1295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0AF"/>
          </a:solidFill>
          <a:ln xmlns:a="http://schemas.openxmlformats.org/drawingml/2006/main" w="0">
            <a:solidFill>
              <a:srgbClr val="1E40A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31FC05-B613-44A7-948D-20E0B310C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71975"/>
            <a:ext cx="1295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FastAPI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974C1A-3B95-4D34-8B95-BB1CD2CEA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305300"/>
            <a:ext cx="1352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0AF"/>
          </a:solidFill>
          <a:ln xmlns:a="http://schemas.openxmlformats.org/drawingml/2006/main" w="0">
            <a:solidFill>
              <a:srgbClr val="1E40A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FA67C1-1446-4F7D-91F3-76BC8CC0F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371975"/>
            <a:ext cx="1352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LangGraph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94C4BC-06A4-4BD7-842F-AE890C19F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305300"/>
            <a:ext cx="1200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0AF"/>
          </a:solidFill>
          <a:ln xmlns:a="http://schemas.openxmlformats.org/drawingml/2006/main" w="0">
            <a:solidFill>
              <a:srgbClr val="1E40A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18D842-12AC-43B2-9D7B-56C4EC7C5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371975"/>
            <a:ext cx="1200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React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DB4071-5715-43E1-A3A9-DCC6F6D8A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305300"/>
            <a:ext cx="1295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0AF"/>
          </a:solidFill>
          <a:ln xmlns:a="http://schemas.openxmlformats.org/drawingml/2006/main" w="0">
            <a:solidFill>
              <a:srgbClr val="1E40A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CA62A9-DE83-454F-9BE8-ED02633D0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371975"/>
            <a:ext cx="1295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Pinecone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8E3F86-9E16-413E-BBCE-C17F83BB7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53100"/>
            <a:ext cx="266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Presented by Atul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8D0954-4923-4685-9304-10351254C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48375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FDBF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FDBFE"/>
                </a:solidFill>
                <a:latin typeface="Aptos"/>
                <a:ea typeface="Aptos"/>
                <a:cs typeface="Aptos"/>
              </a:rPr>
              <a:t>End-to-end enterprise GenAI project</a:t>
            </a:r>
          </a:p>
        </p:txBody>
      </p:sp>
    </p:spTree>
    <p:extLst>
      <p:ext uri="{BB962C8B-B14F-4D97-AF65-F5344CB8AC3E}">
        <p14:creationId xmlns:p14="http://schemas.microsoft.com/office/powerpoint/2010/main" val="205867961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B4B57DF-3CCC-47A2-BF82-D586A65FD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A6EAC1-2F70-43FF-B96F-26F4944D7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BCD58C-AB98-426E-B667-2ED420389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0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3A7F15-F284-494D-AD58-52E45E8B4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810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PROBLEM AND OBJECTIVE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45370A-0EEA-4015-9F64-9887736AD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6142E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6142E"/>
                </a:solidFill>
                <a:latin typeface="Aptos Display"/>
                <a:ea typeface="Aptos Display"/>
                <a:cs typeface="Aptos Display"/>
              </a:rPr>
              <a:t>From document overload to trusted answers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9D9F57-28CF-4DC1-96F8-2ABDEB9C9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81125"/>
            <a:ext cx="828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The platform is built for organizations where critical knowledge is spread across policies, SOPs, manuals, reports, and knowledge-base documents.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926536-0B57-4533-AEEB-81F46A494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32004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F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926B2D-2F82-4C8F-8C15-EFC999699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6667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B8CE6E-D371-421C-BC08-984D806BB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62200"/>
            <a:ext cx="2781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142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6142E"/>
                </a:solidFill>
                <a:latin typeface="Aptos"/>
                <a:ea typeface="Aptos"/>
                <a:cs typeface="Aptos"/>
              </a:rPr>
              <a:t>Enterprise pain points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D5356E-1A41-400B-AF7D-BCD5EA08D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14625"/>
            <a:ext cx="27813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Employees waste time searching scattered documents.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Generic chatbots hallucinate because they are not grounded in approved sources.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Teams need summaries, comparisons, and decision support with citations.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1FBCD3-95DD-4E64-851B-2A1B150FC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190750"/>
            <a:ext cx="32004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F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4AC8A2-A4CD-45EC-B1B3-0CB9AA1F6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190750"/>
            <a:ext cx="6667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46006D-3002-47B6-8F01-9EDB30C70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62200"/>
            <a:ext cx="2781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142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6142E"/>
                </a:solidFill>
                <a:latin typeface="Aptos"/>
                <a:ea typeface="Aptos"/>
                <a:cs typeface="Aptos"/>
              </a:rPr>
              <a:t>Project objective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52CFB6-7B56-45C1-BBB9-47AA2C3B7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714625"/>
            <a:ext cx="27813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Build a full-stack GenAI platform that retrieves trusted enterprise context, reasons over it, validates the answer, and exposes it through a practical dashboard.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818E44-1D10-4B34-AA20-EC97D6A1E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190750"/>
            <a:ext cx="32004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F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F333E5-1021-4DB7-976C-D67A60D82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190750"/>
            <a:ext cx="6667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0E1836-78BC-4D85-BB9E-3FA8EA26A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362200"/>
            <a:ext cx="2781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142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6142E"/>
                </a:solidFill>
                <a:latin typeface="Aptos"/>
                <a:ea typeface="Aptos"/>
                <a:cs typeface="Aptos"/>
              </a:rPr>
              <a:t>Differentiator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F92952-1128-4010-9514-109DB328B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714625"/>
            <a:ext cx="27813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This is not only RAG. It combines agentic workflow, metadata governance, evaluation metrics, Docker, Pinecone support, and a QLoRA fine-tuning path.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88EB58-E4FE-4B5C-ACE1-6610B1E5D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2292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600714-468D-4D4B-B9DE-6AA24412A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191125"/>
            <a:ext cx="904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6142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6142E"/>
                </a:solidFill>
                <a:latin typeface="Aptos"/>
                <a:ea typeface="Aptos"/>
                <a:cs typeface="Aptos"/>
              </a:rPr>
              <a:t>Grounded Q&amp;A with sources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0468E2-E599-45B8-8BBA-94F7E56D5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5911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77FBBD-16EC-4693-8AAA-25E1DD558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553075"/>
            <a:ext cx="904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6142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6142E"/>
                </a:solidFill>
                <a:latin typeface="Aptos"/>
                <a:ea typeface="Aptos"/>
                <a:cs typeface="Aptos"/>
              </a:rPr>
              <a:t>Report mode for executive summaries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7889FB-5543-47F5-867A-10B0ED1F8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9531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9084B4-619A-406A-89F2-7B04A062E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915025"/>
            <a:ext cx="904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6142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6142E"/>
                </a:solidFill>
                <a:latin typeface="Aptos"/>
                <a:ea typeface="Aptos"/>
                <a:cs typeface="Aptos"/>
              </a:rPr>
              <a:t>Evaluation dashboard for quality tracking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AF7229-9436-4CDC-9D9D-ED7F253E6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Enterprise Knowledge Intelligence Platform | 02</a:t>
            </a:r>
          </a:p>
        </p:txBody>
      </p:sp>
    </p:spTree>
    <p:extLst>
      <p:ext uri="{BB962C8B-B14F-4D97-AF65-F5344CB8AC3E}">
        <p14:creationId xmlns:p14="http://schemas.microsoft.com/office/powerpoint/2010/main" val="103421602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9D8D6CF-C324-4EAF-8406-BB44E0ED0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F9F6C0-D47A-476A-B7FF-0B20E318F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65C677-AC8D-45C6-A971-04F4BED5C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0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6B69BC-1B12-4E79-AB9D-36897F31D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810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ARCHITECTURE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FDE636-CFF9-470D-8CB5-E9DBF1088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6142E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6142E"/>
                </a:solidFill>
                <a:latin typeface="Aptos Display"/>
                <a:ea typeface="Aptos Display"/>
                <a:cs typeface="Aptos Display"/>
              </a:rPr>
              <a:t>High-level system design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5154FE-8DD2-4074-8DCC-ED07351E9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81125"/>
            <a:ext cx="828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React handles the user experience, FastAPI exposes APIs, LangGraph routes work across agents, and the vector layer grounds responses in enterprise documents.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F1B389-4C69-493D-BEAB-519525D97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1333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F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69F08C-03B8-4A4C-8561-33E7EA7AE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24100"/>
            <a:ext cx="1066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6142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6142E"/>
                </a:solidFill>
                <a:latin typeface="Aptos"/>
                <a:ea typeface="Aptos"/>
                <a:cs typeface="Aptos"/>
              </a:rPr>
              <a:t>User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E4508D-7672-452A-B6B7-67A409EA3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00325"/>
            <a:ext cx="1066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Atul / employee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646FD1-C90E-4173-A165-597837BEF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505075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987E0C-FF73-42B2-90D2-088851327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390775"/>
            <a:ext cx="247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70594F-F65B-4CA4-BBBC-E3B1DB951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190750"/>
            <a:ext cx="1428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FE0F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89C5C2-DCAD-4F0C-AC3F-642E5F98E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324100"/>
            <a:ext cx="1162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6142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6142E"/>
                </a:solidFill>
                <a:latin typeface="Aptos"/>
                <a:ea typeface="Aptos"/>
                <a:cs typeface="Aptos"/>
              </a:rPr>
              <a:t>React UI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DBBE0A-CE36-49B8-8CD9-211A875B1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600325"/>
            <a:ext cx="1162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chat, docs, analytics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E2256A-51A6-4D0B-9D44-6551FC6B5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505075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9042FA-1124-48C5-947F-6426BF4FC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390775"/>
            <a:ext cx="247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0BAD87-34E5-4F25-8310-A814BE679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190750"/>
            <a:ext cx="1619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F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C721E6-EC6F-4CA4-A0A0-412ED86CF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324100"/>
            <a:ext cx="1352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6142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6142E"/>
                </a:solidFill>
                <a:latin typeface="Aptos"/>
                <a:ea typeface="Aptos"/>
                <a:cs typeface="Aptos"/>
              </a:rPr>
              <a:t>FastAPI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2055DF-D5E8-44E6-9CC9-444F02338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600325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auth + REST APIs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B4CCB5-2305-42E5-B305-40333B4D6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05075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DFCBBE-26ED-424B-9D44-048451875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90775"/>
            <a:ext cx="247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D0DFD2-AF07-42EE-9A9D-CD6B8D157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190750"/>
            <a:ext cx="16954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FE0F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AEBC16-D74E-4471-8D52-B7F6BF453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32410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6142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6142E"/>
                </a:solidFill>
                <a:latin typeface="Aptos"/>
                <a:ea typeface="Aptos"/>
                <a:cs typeface="Aptos"/>
              </a:rPr>
              <a:t>LangGraph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1ED3F2-62F9-4487-B6EA-C3B4D402C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600325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agent router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BE3996-8746-4623-BCE2-DFAD9BFD9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505075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EA88427-AD6F-4299-AAC7-33885F5BE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390775"/>
            <a:ext cx="247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1B4240D-526A-4BA4-A8ED-601EF787C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190750"/>
            <a:ext cx="1714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F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BFFFF7F-6E62-4A72-BF2F-A9B279CD4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324100"/>
            <a:ext cx="1447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6142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6142E"/>
                </a:solidFill>
                <a:latin typeface="Aptos"/>
                <a:ea typeface="Aptos"/>
                <a:cs typeface="Aptos"/>
              </a:rPr>
              <a:t>Final Answer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CE38EF8-79C7-41F2-8ABA-B2264F387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600325"/>
            <a:ext cx="1447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validated + cited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26B5BBF-4035-410C-AC78-3CFB00370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733800"/>
            <a:ext cx="1619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F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5DADA5C-4EA9-4878-981B-94C0F6071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867150"/>
            <a:ext cx="1352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6142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6142E"/>
                </a:solidFill>
                <a:latin typeface="Aptos"/>
                <a:ea typeface="Aptos"/>
                <a:cs typeface="Aptos"/>
              </a:rPr>
              <a:t>Retrieval Agent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8C90A00-4A68-47DB-9345-3494DCFB8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143375"/>
            <a:ext cx="1352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searches vector DB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3717419-47C3-4A4D-9A4F-B5C60CEF4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733800"/>
            <a:ext cx="1619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F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5082D55-1D7A-4E6D-99B4-3220DE255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867150"/>
            <a:ext cx="1352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6142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6142E"/>
                </a:solidFill>
                <a:latin typeface="Aptos"/>
                <a:ea typeface="Aptos"/>
                <a:cs typeface="Aptos"/>
              </a:rPr>
              <a:t>Reasoning Agent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0059B0E-1BFB-4012-BEC9-D17E62C16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143375"/>
            <a:ext cx="1352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generates answer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87FE521-E44F-460A-B000-D99FFDF93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733800"/>
            <a:ext cx="1619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F6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8DB4D4F-935C-41BE-B1F7-024B9D4BC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867150"/>
            <a:ext cx="1352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6142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6142E"/>
                </a:solidFill>
                <a:latin typeface="Aptos"/>
                <a:ea typeface="Aptos"/>
                <a:cs typeface="Aptos"/>
              </a:rPr>
              <a:t>Report Agent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D9FCDDF-580D-4934-A0B0-240C6D6BB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143375"/>
            <a:ext cx="1352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summaries and reports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B3CFA0A-2BC7-4C6B-BE74-06610B651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733800"/>
            <a:ext cx="1619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F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289163A-DE3E-4BCC-90B9-B07A015CE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867150"/>
            <a:ext cx="1352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6142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6142E"/>
                </a:solidFill>
                <a:latin typeface="Aptos"/>
                <a:ea typeface="Aptos"/>
                <a:cs typeface="Aptos"/>
              </a:rPr>
              <a:t>Validation Agent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86F45CF-BA81-4370-9A3B-028DB8BB7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143375"/>
            <a:ext cx="1352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checks grounding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C55608E-B6D5-46D5-BC35-A4944E4AF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895600"/>
            <a:ext cx="381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40D1324-EF84-4163-A022-C17B9A3C9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562350"/>
            <a:ext cx="6858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65BD74A-2BC0-4CC9-B06E-F146CD7F6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562350"/>
            <a:ext cx="38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D27FE6F-AD20-4541-A622-D33534712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562350"/>
            <a:ext cx="38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4AE8D6B-ECA1-433F-BB22-B515A767C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562350"/>
            <a:ext cx="38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8BC11AF-C9AC-4387-88A1-BBE40C131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562350"/>
            <a:ext cx="38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7C5F461-CBF6-45A8-A285-45B41D955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38750"/>
            <a:ext cx="2095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FE0F6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6CF0952-2AC8-4944-A183-ABC4C2532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372100"/>
            <a:ext cx="1828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6142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6142E"/>
                </a:solidFill>
                <a:latin typeface="Aptos"/>
                <a:ea typeface="Aptos"/>
                <a:cs typeface="Aptos"/>
              </a:rPr>
              <a:t>Vector DB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BFA64AF-A0D8-4106-93EE-BD778E99E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648325"/>
            <a:ext cx="1828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local hash / Chroma / Pinecone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FD8F7B8-8835-48AE-BE9B-E1C6B84CB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572125"/>
            <a:ext cx="495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E2C671C-9E59-4BE7-9131-A188856EE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5457825"/>
            <a:ext cx="247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0478F56-083F-4151-93D6-D1B8530F1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238750"/>
            <a:ext cx="2476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F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8DA0F4D-5DD8-40EE-887B-09D059B1A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372100"/>
            <a:ext cx="2209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6142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6142E"/>
                </a:solidFill>
                <a:latin typeface="Aptos"/>
                <a:ea typeface="Aptos"/>
                <a:cs typeface="Aptos"/>
              </a:rPr>
              <a:t>Enterprise Documents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AD8473B-8525-4BFA-A0E1-F8D72527F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648325"/>
            <a:ext cx="2209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100 generated PDFs + uploads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A5328AF-52FE-437E-A92A-A5596C0E4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572125"/>
            <a:ext cx="495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A965603-484C-42E6-8D22-D0C84E8F4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457825"/>
            <a:ext cx="247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E9BC1F5-FEB7-46CA-8C40-D74802982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5238750"/>
            <a:ext cx="171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FE0F6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9C2E8D2-86A4-4F38-89A6-66C048D06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372100"/>
            <a:ext cx="1447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6142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6142E"/>
                </a:solidFill>
                <a:latin typeface="Aptos"/>
                <a:ea typeface="Aptos"/>
                <a:cs typeface="Aptos"/>
              </a:rPr>
              <a:t>Embeddings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DC153B0-61BB-4D40-85D6-8B83CF04D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648325"/>
            <a:ext cx="1447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local-hash baseline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3BDBA32-52D3-4198-9E5C-A84167BD7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Enterprise Knowledge Intelligence Platform | 03</a:t>
            </a:r>
          </a:p>
        </p:txBody>
      </p:sp>
    </p:spTree>
    <p:extLst>
      <p:ext uri="{BB962C8B-B14F-4D97-AF65-F5344CB8AC3E}">
        <p14:creationId xmlns:p14="http://schemas.microsoft.com/office/powerpoint/2010/main" val="205158949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4DF3241-C9A5-486B-BCBE-0702B3005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E4F96F-4821-463B-98B7-1B07C1865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E3275E-5A86-41DA-9491-C0A9C8955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0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F9A2D8-4AF8-4703-B0E2-3C89095B6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810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RAG PIPELINE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B668A6-339F-4E70-88F5-22835F87F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6142E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6142E"/>
                </a:solidFill>
                <a:latin typeface="Aptos Display"/>
                <a:ea typeface="Aptos Display"/>
                <a:cs typeface="Aptos Display"/>
              </a:rPr>
              <a:t>Document ingestion to grounded response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9888AF-DBC0-47AD-AAC0-E1DEB8A12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81125"/>
            <a:ext cx="828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The pipeline accepts enterprise files, extracts text, chunks content, embeds chunks, stores metadata, and retrieves trusted source context at query time.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24FE32-5C57-4390-9576-C6156B65A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12573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F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E15C16-E1DB-4A70-8775-CE53FAF45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990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6142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6142E"/>
                </a:solidFill>
                <a:latin typeface="Aptos"/>
                <a:ea typeface="Aptos"/>
                <a:cs typeface="Aptos"/>
              </a:rPr>
              <a:t>PDF / DOCX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7B9F14-4112-4214-9BEB-5BFA4BC21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71775"/>
            <a:ext cx="990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enterprise files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2E8AC4-F60D-4147-8653-F1B18B18F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69557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91B179-D781-4C76-99B0-6044E92B6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581275"/>
            <a:ext cx="247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9EB7FF-4441-4674-AA49-BB65A889D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362200"/>
            <a:ext cx="13525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FE0F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42530D-5E7D-4C50-B3CE-2992C8A9B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495550"/>
            <a:ext cx="1085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6142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6142E"/>
                </a:solidFill>
                <a:latin typeface="Aptos"/>
                <a:ea typeface="Aptos"/>
                <a:cs typeface="Aptos"/>
              </a:rPr>
              <a:t>Extraction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F409E8-BAAC-47A6-A7D4-6C7BA0A3C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771775"/>
            <a:ext cx="1085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PyPDF + parsers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D6AC07-5932-43BF-BADF-D6ABBAB64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69557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3D7872-C928-47A4-98D0-1A5FEA319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581275"/>
            <a:ext cx="247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F7D9C1-E0D4-487E-A181-D0BE6561E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362200"/>
            <a:ext cx="1238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F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E3DB21-FA0A-45E1-82A1-1D1FE01F5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95550"/>
            <a:ext cx="971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6142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6142E"/>
                </a:solidFill>
                <a:latin typeface="Aptos"/>
                <a:ea typeface="Aptos"/>
                <a:cs typeface="Aptos"/>
              </a:rPr>
              <a:t>Chunking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1CBE86-E9F3-42A0-AEF4-94199E178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771775"/>
            <a:ext cx="971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retrievable blocks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141F0B-EDCE-4D12-AB05-295C68D78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69557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1465A6-D13E-450E-8260-A1696A33C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581275"/>
            <a:ext cx="247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671399-16D1-4687-B3C2-E72567080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62200"/>
            <a:ext cx="13525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FE0F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E91F4D-3A54-47E6-AD05-73B832723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95550"/>
            <a:ext cx="1085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6142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6142E"/>
                </a:solidFill>
                <a:latin typeface="Aptos"/>
                <a:ea typeface="Aptos"/>
                <a:cs typeface="Aptos"/>
              </a:rPr>
              <a:t>Embedding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27E67B-0176-40B7-8E54-20E870E09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71775"/>
            <a:ext cx="1085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vector features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B097D7-5F82-4DA1-8274-5B4DC57C5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69557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DBA5C4A-B5D3-401D-8974-06B3EE026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581275"/>
            <a:ext cx="247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E9BB17E-8455-461A-AF88-BD4B20200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62200"/>
            <a:ext cx="1428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F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5467DF3-21B3-471B-81BC-3ABE17913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495550"/>
            <a:ext cx="1162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6142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6142E"/>
                </a:solidFill>
                <a:latin typeface="Aptos"/>
                <a:ea typeface="Aptos"/>
                <a:cs typeface="Aptos"/>
              </a:rPr>
              <a:t>Vector DB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6185A9C-48F4-43F7-B5A5-FAD9D2712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71775"/>
            <a:ext cx="1162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Pinecone-ready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5F89E4D-9076-4F37-8B41-ABCD4FAAB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69557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49ACD88-0F95-42E0-9AC0-C1815D70A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581275"/>
            <a:ext cx="247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C072629-CD77-4021-9369-F741E14B1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362200"/>
            <a:ext cx="1428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FE0F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E90F003-467F-46BC-BBAA-861666797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495550"/>
            <a:ext cx="1162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6142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6142E"/>
                </a:solidFill>
                <a:latin typeface="Aptos"/>
                <a:ea typeface="Aptos"/>
                <a:cs typeface="Aptos"/>
              </a:rPr>
              <a:t>Answer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8F49039-14C5-43DD-9166-4DC908DB4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771775"/>
            <a:ext cx="1162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cited output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6C9A2FD-5FA6-42AE-ACB5-9A5E2B7B9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38600"/>
            <a:ext cx="2857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F6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964027E-24E2-4F7A-8109-A782C1397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10050"/>
            <a:ext cx="2438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142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6142E"/>
                </a:solidFill>
                <a:latin typeface="Aptos"/>
                <a:ea typeface="Aptos"/>
                <a:cs typeface="Aptos"/>
              </a:rPr>
              <a:t>Metadata captured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1FEDF56-FAD7-45E7-A85C-BD5F79A4F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62475"/>
            <a:ext cx="2438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department, document_type, access_level, source path, chunk ID, confidence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21C59D3-FF5D-4B0D-B028-4A5992A25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038600"/>
            <a:ext cx="2857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F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F7565EC-ACD3-43D7-B1D5-6E74F6A75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210050"/>
            <a:ext cx="2438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142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6142E"/>
                </a:solidFill>
                <a:latin typeface="Aptos"/>
                <a:ea typeface="Aptos"/>
                <a:cs typeface="Aptos"/>
              </a:rPr>
              <a:t>Retrieval controls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65FA97B-A758-49A6-A90A-6B8240A25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562475"/>
            <a:ext cx="2438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top-k search, fallback local provider, deduped sources, grounded status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4B0492E-FAB5-485C-B6A4-80B2840C3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038600"/>
            <a:ext cx="2857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F6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D178F03-DD99-4421-B291-182C32B35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210050"/>
            <a:ext cx="2438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142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6142E"/>
                </a:solidFill>
                <a:latin typeface="Aptos"/>
                <a:ea typeface="Aptos"/>
                <a:cs typeface="Aptos"/>
              </a:rPr>
              <a:t>Demo dataset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182CD70-E0B9-41E6-9E7A-F15A2A484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562475"/>
            <a:ext cx="2438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100 realistic enterprise PDFs across HR, IT, Security, Finance, and Operations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63D090F-6C89-4194-9B7D-8D49D2FFE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Enterprise Knowledge Intelligence Platform | 04</a:t>
            </a:r>
          </a:p>
        </p:txBody>
      </p:sp>
    </p:spTree>
    <p:extLst>
      <p:ext uri="{BB962C8B-B14F-4D97-AF65-F5344CB8AC3E}">
        <p14:creationId xmlns:p14="http://schemas.microsoft.com/office/powerpoint/2010/main" val="167160224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12FB9F4-8BB2-4561-BBC8-CB755D458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774C04-A710-41B5-9762-48BC9372F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7A4EA1-4244-42DF-BBDE-197AA9693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0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574EEE-4752-408B-ACF9-0DDF3723A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810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AGENTIC 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A82A52-8D3A-4E03-B1AE-D2028AA1B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6142E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6142E"/>
                </a:solidFill>
                <a:latin typeface="Aptos Display"/>
                <a:ea typeface="Aptos Display"/>
                <a:cs typeface="Aptos Display"/>
              </a:rPr>
              <a:t>LangGraph multi-agent workflow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891D08-E782-473A-937B-B4B889F54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81125"/>
            <a:ext cx="828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Each request is routed through specialized agents so retrieval, reasoning, reporting, and validation stay modular and testable.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84D30E-388A-4118-96EC-0B919F8E6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05050"/>
            <a:ext cx="1714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F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BA7D09-F2EE-4E6B-87D3-09B9B1B7C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38400"/>
            <a:ext cx="1447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6142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6142E"/>
                </a:solidFill>
                <a:latin typeface="Aptos"/>
                <a:ea typeface="Aptos"/>
                <a:cs typeface="Aptos"/>
              </a:rPr>
              <a:t>User Question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3F0BD0-E7D4-4BBB-8A72-D553A4BE0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14625"/>
            <a:ext cx="1447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mode: qa / report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18256C-CEB7-41F1-89A1-98810A783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628900"/>
            <a:ext cx="495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359434-B351-480D-A7F7-ED8774183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514600"/>
            <a:ext cx="247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EA7B66-42E6-4298-8E84-E7E02B4E4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305050"/>
            <a:ext cx="1809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FE0F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3760FF-7857-4B90-AF57-673E16467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438400"/>
            <a:ext cx="1543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6142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6142E"/>
                </a:solidFill>
                <a:latin typeface="Aptos"/>
                <a:ea typeface="Aptos"/>
                <a:cs typeface="Aptos"/>
              </a:rPr>
              <a:t>Retrieval Agent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30EDBE-FCF4-4B02-B284-DE7F36DBA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714625"/>
            <a:ext cx="1543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gets source context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87B10A-C7D6-4194-968C-6BD14B98E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628900"/>
            <a:ext cx="495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D03EEC-DC09-4DCA-8323-F1C100E60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514600"/>
            <a:ext cx="247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20CFE9-DA2B-4C0B-A334-49A7E670E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305050"/>
            <a:ext cx="1809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F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D672C1-1EBF-448C-85B1-222CD65B3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438400"/>
            <a:ext cx="1543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6142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6142E"/>
                </a:solidFill>
                <a:latin typeface="Aptos"/>
                <a:ea typeface="Aptos"/>
                <a:cs typeface="Aptos"/>
              </a:rPr>
              <a:t>Reasoning Agent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FB2FF9-219C-4906-AD43-422A83ED7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714625"/>
            <a:ext cx="1543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drafts answer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EDDCE7-9114-4CF4-B91D-1275B40CA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628900"/>
            <a:ext cx="495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5FC7BA-A6E2-4414-A070-3E2850025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514600"/>
            <a:ext cx="247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AD63FF-78B6-4258-92EB-36476F866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305050"/>
            <a:ext cx="1809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FE0F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1EC5FB-4C44-446A-ACE5-7AEE3ECA9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438400"/>
            <a:ext cx="1543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6142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6142E"/>
                </a:solidFill>
                <a:latin typeface="Aptos"/>
                <a:ea typeface="Aptos"/>
                <a:cs typeface="Aptos"/>
              </a:rPr>
              <a:t>Validation Agent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C6CA6C-9E55-4F49-A973-51B3B5FA9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714625"/>
            <a:ext cx="1543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checks grounding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D6AB7AF-813A-4351-AB6D-23518BE51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086100"/>
            <a:ext cx="381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9DCAAC5-A8E9-418F-BC60-2B9F6168D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848100"/>
            <a:ext cx="1809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F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6E140A4-41D6-44A9-AA87-87806EE4C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981450"/>
            <a:ext cx="1543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6142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6142E"/>
                </a:solidFill>
                <a:latin typeface="Aptos"/>
                <a:ea typeface="Aptos"/>
                <a:cs typeface="Aptos"/>
              </a:rPr>
              <a:t>Final Response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9F67762-D128-4B14-B265-0C9870D16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257675"/>
            <a:ext cx="1543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answer + citations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A7797C1-0844-4FB2-8ED5-5A931E30F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086100"/>
            <a:ext cx="38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AA47277-4567-4525-96DC-A38C56EC3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733800"/>
            <a:ext cx="1695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AFA5615-5762-4226-860C-7842D4B79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848100"/>
            <a:ext cx="2190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F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F9426D1-8FEA-411E-99C4-F16F78188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981450"/>
            <a:ext cx="1924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6142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6142E"/>
                </a:solidFill>
                <a:latin typeface="Aptos"/>
                <a:ea typeface="Aptos"/>
                <a:cs typeface="Aptos"/>
              </a:rPr>
              <a:t>Report Agent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6CE407D-FF81-4421-B7E9-5E34DC601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2576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summary, findings, actions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C734C79-A554-4A25-B999-F8060D5A6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219700"/>
            <a:ext cx="29146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F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9CC91D9-AC2F-4672-87E3-0FEE8E182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391150"/>
            <a:ext cx="2495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142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6142E"/>
                </a:solidFill>
                <a:latin typeface="Aptos"/>
                <a:ea typeface="Aptos"/>
                <a:cs typeface="Aptos"/>
              </a:rPr>
              <a:t>Why agents matter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82C3292-26E2-423A-B538-D2D16E938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743575"/>
            <a:ext cx="24955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Cleaner responsibilities, easier debugging, and a natural story for enterprise workflows.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2A79B28-AFDB-42B1-B475-8B6848D7D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219700"/>
            <a:ext cx="29146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F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3707141-BC40-456D-BC33-815B747C6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391150"/>
            <a:ext cx="2495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142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6142E"/>
                </a:solidFill>
                <a:latin typeface="Aptos"/>
                <a:ea typeface="Aptos"/>
                <a:cs typeface="Aptos"/>
              </a:rPr>
              <a:t>Hallucination control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9BB94CA-D069-47A1-B322-B378FD5E7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743575"/>
            <a:ext cx="24955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Validation only marks the answer grounded when retrieved context supports it.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79DAB60-CF32-4643-82E0-1B96A18D9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219700"/>
            <a:ext cx="29146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F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61C7977-27DA-4E75-9408-A6C9D9DD5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391150"/>
            <a:ext cx="2495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142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6142E"/>
                </a:solidFill>
                <a:latin typeface="Aptos"/>
                <a:ea typeface="Aptos"/>
                <a:cs typeface="Aptos"/>
              </a:rPr>
              <a:t>Extensible design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8E37D5F-0BAF-41B8-938A-942B3B862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743575"/>
            <a:ext cx="24955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New agents can be added for compliance, workflow actions, or approval routing.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C3AE0DA-7396-4685-B6FA-49ECD367B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Enterprise Knowledge Intelligence Platform | 05</a:t>
            </a:r>
          </a:p>
        </p:txBody>
      </p:sp>
    </p:spTree>
    <p:extLst>
      <p:ext uri="{BB962C8B-B14F-4D97-AF65-F5344CB8AC3E}">
        <p14:creationId xmlns:p14="http://schemas.microsoft.com/office/powerpoint/2010/main" val="286699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34DA821-1CA6-4EB1-A0D4-1E7E686EF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19347B-8238-4D5E-B627-EBAD74041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ED4E31-3788-4B07-9762-0A2DCC6D9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0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6723F9-4602-40F1-8BAB-444007BF9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810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EVALUATION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1D53C6-1E8D-48DA-9825-79BE8F88D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6142E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6142E"/>
                </a:solidFill>
                <a:latin typeface="Aptos Display"/>
                <a:ea typeface="Aptos Display"/>
                <a:cs typeface="Aptos Display"/>
              </a:rPr>
              <a:t>Quality dashboard and benchmark suite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7380B8-BADA-432A-AFB7-A025ED39E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81125"/>
            <a:ext cx="828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The app includes a RAGAS-style evaluation page to show faithfulness, context precision, answer relevancy, context recall, hallucination rate, and pass rate.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57955C-F337-4345-AFE5-1C6B115B4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2381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F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C3FC4A-0BC8-4BDA-BE29-FBAC48BEB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57450"/>
            <a:ext cx="1962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Queries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ADC252-3956-42A0-A4EF-AA430FBA4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24150"/>
            <a:ext cx="1962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100+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C98453-1215-442F-AC90-A50E0B055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19450"/>
            <a:ext cx="1962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after dataset upload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FDB99C-9E65-412B-96FF-784ADF2F4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266950"/>
            <a:ext cx="2381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F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F2C5BE-1B0F-4454-8F62-466639899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457450"/>
            <a:ext cx="1962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Faithfulness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D74295-599E-4A5F-AABB-E91957A7E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724150"/>
            <a:ext cx="1962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0.83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A98DF1-C288-41BE-9040-451DEB386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219450"/>
            <a:ext cx="1962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sample benchmark run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8A25E5-9AC3-4526-8C52-EA1666AD0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266950"/>
            <a:ext cx="2381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F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AAC909-8AB7-4081-B156-62638CF03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457450"/>
            <a:ext cx="1962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Context Precision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588EF5-4097-4A8B-BBF8-55D469B6F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724150"/>
            <a:ext cx="1962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0.61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01DF77-5F53-4B9A-B698-032841044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219450"/>
            <a:ext cx="1962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retrieval quality signal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4F3A7F-82E8-45A3-8D99-D385985CA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266950"/>
            <a:ext cx="2381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F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CD6022-F68A-4700-A104-65C83EDD5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457450"/>
            <a:ext cx="1962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Hallucination Rate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74D3D1-3EBA-44B8-83DC-BC6697047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724150"/>
            <a:ext cx="1962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0.17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1BDE81-36A6-49F3-82C6-470AFFB21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219450"/>
            <a:ext cx="1962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lower is better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362309-5C9A-4DBD-998F-4984689AF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00500"/>
            <a:ext cx="30289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F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390B4E-45C5-42FD-AF6E-F0B9B7B89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71950"/>
            <a:ext cx="2609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142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6142E"/>
                </a:solidFill>
                <a:latin typeface="Aptos"/>
                <a:ea typeface="Aptos"/>
                <a:cs typeface="Aptos"/>
              </a:rPr>
              <a:t>Evaluation cases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EA906F-F08F-487E-A884-1B8B717F1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24375"/>
            <a:ext cx="26098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Leave policy, security incident reporting, project status reports, onboarding training, and Priority 1 incident handling.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7D16DF7-AA4F-49EF-B3E0-85E3E22D9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000500"/>
            <a:ext cx="30289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F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DD137ED-6245-4C87-8944-90E5675AF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171950"/>
            <a:ext cx="2609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142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6142E"/>
                </a:solidFill>
                <a:latin typeface="Aptos"/>
                <a:ea typeface="Aptos"/>
                <a:cs typeface="Aptos"/>
              </a:rPr>
              <a:t>Comparison story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84FB510-F242-42C9-940E-527141EEF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524375"/>
            <a:ext cx="26098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 LLM vs RAG only vs fine-tuned + RAG vs multi-agent + fine-tuned + RAG.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9C2B6B7-A6DF-453F-A108-A540308A5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000500"/>
            <a:ext cx="30289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F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893A54E-301E-4FB3-8E06-615F9677A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171950"/>
            <a:ext cx="2609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142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6142E"/>
                </a:solidFill>
                <a:latin typeface="Aptos"/>
                <a:ea typeface="Aptos"/>
                <a:cs typeface="Aptos"/>
              </a:rPr>
              <a:t>Interview value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4D40573-C98A-4C8D-AAA6-512996981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524375"/>
            <a:ext cx="26098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Shows that the project measures reliability instead of only displaying chatbot answers.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98C776E-9242-4B90-A5E0-CFB0F5CA0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Enterprise Knowledge Intelligence Platform | 06</a:t>
            </a:r>
          </a:p>
        </p:txBody>
      </p:sp>
    </p:spTree>
    <p:extLst>
      <p:ext uri="{BB962C8B-B14F-4D97-AF65-F5344CB8AC3E}">
        <p14:creationId xmlns:p14="http://schemas.microsoft.com/office/powerpoint/2010/main" val="14980834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7AA8CEA-F4DF-4117-9AEA-C6C8F9D66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AFC0CB-8B77-4D12-9485-4D0288012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B8248C-B041-4CAC-B764-702314CB6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0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9EAC2C-410B-48E3-A0E2-221918D03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810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FINE-TUNING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7B8694-B4D6-4EA4-B0E7-79BBF0874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6142E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6142E"/>
                </a:solidFill>
                <a:latin typeface="Aptos Display"/>
                <a:ea typeface="Aptos Display"/>
                <a:cs typeface="Aptos Display"/>
              </a:rPr>
              <a:t>QLoRA path for domain adaptation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3A157F-9F05-47F7-ADB3-5B342EB4A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81125"/>
            <a:ext cx="828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The project already generates instruction-response examples from enterprise content and includes a training scaffold for Qwen/Llama-style fine-tuning.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A692D1-E13B-45E6-A4FD-B5EAB3029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43150"/>
            <a:ext cx="1581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F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F8F426-EAEA-4112-B302-52081457B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76500"/>
            <a:ext cx="1314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6142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6142E"/>
                </a:solidFill>
                <a:latin typeface="Aptos"/>
                <a:ea typeface="Aptos"/>
                <a:cs typeface="Aptos"/>
              </a:rPr>
              <a:t>Enterprise Docs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4A1A06-B264-447C-9CAA-9D32921BF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52725"/>
            <a:ext cx="1314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100 PDFs + uploads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B8D56F-32E8-4941-865B-A742F1E57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676525"/>
            <a:ext cx="361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BDB64A-DBA7-4AA5-95CD-B5AF008FB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562225"/>
            <a:ext cx="247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E42B8F-8DA1-4E98-A92A-29BA820DC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343150"/>
            <a:ext cx="16954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FE0F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5DE4C7-6F41-423D-9DBD-801B11A9B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47650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6142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6142E"/>
                </a:solidFill>
                <a:latin typeface="Aptos"/>
                <a:ea typeface="Aptos"/>
                <a:cs typeface="Aptos"/>
              </a:rPr>
              <a:t>JSONL Dataset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97F687-D674-469C-A35D-08D8F5FCB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752725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instruction + output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87DE22-9E45-4DEA-B90B-CF094CD58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676525"/>
            <a:ext cx="361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5BB70F-3F81-4D89-8252-BA92433EC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562225"/>
            <a:ext cx="247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0C8B71-9ED4-4D8C-8908-626B75C33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343150"/>
            <a:ext cx="1581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F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EBC34F-9A41-4D0F-83B2-1A2570C10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476500"/>
            <a:ext cx="1314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6142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6142E"/>
                </a:solidFill>
                <a:latin typeface="Aptos"/>
                <a:ea typeface="Aptos"/>
                <a:cs typeface="Aptos"/>
              </a:rPr>
              <a:t>Base LLM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03A7BB-1200-40A5-A442-67032361A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752725"/>
            <a:ext cx="1314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Qwen / Llama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8CEEE6-60FB-43D8-8906-F30AE1041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676525"/>
            <a:ext cx="361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05FA03-CF0E-4811-819D-94482B825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562225"/>
            <a:ext cx="247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D1FCFB-7A8E-467D-A6E1-79F794780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343150"/>
            <a:ext cx="1581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FE0F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BBAE9A-CEDA-43B5-9C4F-16DAF6D58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76500"/>
            <a:ext cx="1314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6142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6142E"/>
                </a:solidFill>
                <a:latin typeface="Aptos"/>
                <a:ea typeface="Aptos"/>
                <a:cs typeface="Aptos"/>
              </a:rPr>
              <a:t>QLoRA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2D6137-8C4B-4D46-B466-7CAD9F82F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52725"/>
            <a:ext cx="1314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Unsloth + PEFT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A70A14-416C-42C8-9124-B2359F49D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676525"/>
            <a:ext cx="361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6EED92A-E43D-4758-B63D-C0DFFC97A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562225"/>
            <a:ext cx="247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901C4F-BCB9-4493-B1D2-00EF6063E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343150"/>
            <a:ext cx="1428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F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4EEBB2A-4331-491E-BE35-AAA8107B8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476500"/>
            <a:ext cx="1162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6142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6142E"/>
                </a:solidFill>
                <a:latin typeface="Aptos"/>
                <a:ea typeface="Aptos"/>
                <a:cs typeface="Aptos"/>
              </a:rPr>
              <a:t>Adapter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0E5AF4D-6525-4FA0-AB25-EB09BBA6D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752725"/>
            <a:ext cx="1162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domain style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7D902C5-FBD6-4740-A380-A7F1AA3D9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95750"/>
            <a:ext cx="2857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F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7126615-5919-4270-98B5-9157FF8B1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67200"/>
            <a:ext cx="2438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142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6142E"/>
                </a:solidFill>
                <a:latin typeface="Aptos"/>
                <a:ea typeface="Aptos"/>
                <a:cs typeface="Aptos"/>
              </a:rPr>
              <a:t>Dataset examples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A604D07-071D-4EC2-B096-662120674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19625"/>
            <a:ext cx="2438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Summaries, key requirements, business purpose explanations, and policy Q&amp;A pairs.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6F976A8-E7E1-46C0-BAD3-C8B6693FB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095750"/>
            <a:ext cx="2857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F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90B802D-7FB4-4654-9299-7E8E722B5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267200"/>
            <a:ext cx="2438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142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6142E"/>
                </a:solidFill>
                <a:latin typeface="Aptos"/>
                <a:ea typeface="Aptos"/>
                <a:cs typeface="Aptos"/>
              </a:rPr>
              <a:t>Why QLoRA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EE9314C-B14A-4E6E-9F21-CD359EEDE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619625"/>
            <a:ext cx="2438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Trains small adapter weights instead of full model weights, reducing GPU memory cost.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BC7817A-DA58-413A-835D-413581B36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95750"/>
            <a:ext cx="2857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F6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19D3184-BF4E-44D4-8072-F2FD7D033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267200"/>
            <a:ext cx="2438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142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6142E"/>
                </a:solidFill>
                <a:latin typeface="Aptos"/>
                <a:ea typeface="Aptos"/>
                <a:cs typeface="Aptos"/>
              </a:rPr>
              <a:t>Demo boundary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F153A74-F307-4983-98CB-91B25CE13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619625"/>
            <a:ext cx="2438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The code path is ready; actual training needs a GPU environment such as T4, A100, or Colab.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D57DE64-DBD5-467A-9A0C-823E9DA36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Enterprise Knowledge Intelligence Platform | 07</a:t>
            </a:r>
          </a:p>
        </p:txBody>
      </p:sp>
    </p:spTree>
    <p:extLst>
      <p:ext uri="{BB962C8B-B14F-4D97-AF65-F5344CB8AC3E}">
        <p14:creationId xmlns:p14="http://schemas.microsoft.com/office/powerpoint/2010/main" val="132180340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59E4D5D-4460-4AA3-AFD2-934CF21A2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C09A42-C75C-4E8A-BF4D-A505762E5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C90D51-2523-43B4-A414-483FC2C8A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0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C9D44E-DFD2-42B0-BAE4-F59A9CED6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810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SECURITY AND GOVERNANCE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109215-B604-491C-9201-307FF948B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6142E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6142E"/>
                </a:solidFill>
                <a:latin typeface="Aptos Display"/>
                <a:ea typeface="Aptos Display"/>
                <a:cs typeface="Aptos Display"/>
              </a:rPr>
              <a:t>Enterprise controls built into the demo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18C3AE-C4EC-4863-96CE-B8F7CE103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81125"/>
            <a:ext cx="828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The implementation includes JWT authentication, role-aware frontend navigation, document metadata, and source traceability.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8B0D09-6827-4279-B9FA-C103B45F1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2190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F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DFF189-1117-4905-B6F5-899DEE6CB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57450"/>
            <a:ext cx="1771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Demo User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2C88E2-FF68-4A56-A072-9E15C9BE5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24150"/>
            <a:ext cx="1771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Atul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3B3A2B-4331-4648-9928-D8F833E90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19450"/>
            <a:ext cx="1771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admin account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2B0A30-9A47-4EF9-82C8-BB199BC72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266950"/>
            <a:ext cx="2190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F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51FE8E-9090-499C-92F7-1C80F0D31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457450"/>
            <a:ext cx="1771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Auth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9C52E0-3669-4C6A-AD0A-946A16ECA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724150"/>
            <a:ext cx="1771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JWT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6B27BD-694F-44FF-9FC5-479C5262E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219450"/>
            <a:ext cx="1771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protected APIs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50F8E7-D41B-457A-B083-FAE1B02F5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266950"/>
            <a:ext cx="2190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F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25FF5A-4E77-49E2-91D3-07B726CD2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57450"/>
            <a:ext cx="1771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Metadata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E89904-04CA-4D02-9F31-145189D6D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24150"/>
            <a:ext cx="1771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3 fields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43A3B2-F602-4AF0-BFAE-B7DEF4BFB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19450"/>
            <a:ext cx="1771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dept/type/access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797010-75DF-4F00-99CA-47A070D02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266950"/>
            <a:ext cx="2190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F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101A22-8103-4B02-9C19-9D120A7EF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457450"/>
            <a:ext cx="1771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Sources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3C1C25-F25C-41F9-BCE2-DEB3F81FB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724150"/>
            <a:ext cx="1771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chunk IDs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651566-E526-4ABB-8E07-C2603E47D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219450"/>
            <a:ext cx="1771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traceable answers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4FD084-3697-44F1-BEF1-787A140E0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95750"/>
            <a:ext cx="2724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F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92F528-AD93-46E0-B2AC-5497B5BF9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267200"/>
            <a:ext cx="2305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142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6142E"/>
                </a:solidFill>
                <a:latin typeface="Aptos"/>
                <a:ea typeface="Aptos"/>
                <a:cs typeface="Aptos"/>
              </a:rPr>
              <a:t>Access model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45380B-5ABE-419D-8E85-2B4B5B899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619625"/>
            <a:ext cx="23050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Chat, documents, analytics, fine-tuning, and admin routes require a bearer token.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FD27BA-0285-4A1E-9EE4-82472004A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095750"/>
            <a:ext cx="2724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F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973EB27-B2D9-4E1C-9D16-4D74AACBB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267200"/>
            <a:ext cx="2305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142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6142E"/>
                </a:solidFill>
                <a:latin typeface="Aptos"/>
                <a:ea typeface="Aptos"/>
                <a:cs typeface="Aptos"/>
              </a:rPr>
              <a:t>Document governance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89FA791-AAD5-4B29-A2A5-C6B03A938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619625"/>
            <a:ext cx="23050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Uploads carry department, document type, and access level metadata into retrieval results.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705A199-E590-4448-9BA2-FA830FF02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095750"/>
            <a:ext cx="2724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F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83DF568-EF25-4E80-A598-5F807B9A2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267200"/>
            <a:ext cx="2305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142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6142E"/>
                </a:solidFill>
                <a:latin typeface="Aptos"/>
                <a:ea typeface="Aptos"/>
                <a:cs typeface="Aptos"/>
              </a:rPr>
              <a:t>Production next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E6F4AAB-0CF4-4862-A5BA-AF7403F8B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619625"/>
            <a:ext cx="23050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Replace demo auth with SSO, RBAC policies, audit logs, and document-level permissions.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42CE820-7B72-45D4-9B45-B7A3AE5E5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Enterprise Knowledge Intelligence Platform | 08</a:t>
            </a:r>
          </a:p>
        </p:txBody>
      </p:sp>
    </p:spTree>
    <p:extLst>
      <p:ext uri="{BB962C8B-B14F-4D97-AF65-F5344CB8AC3E}">
        <p14:creationId xmlns:p14="http://schemas.microsoft.com/office/powerpoint/2010/main" val="139009412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BAFD65B-63FD-4BE8-9010-060F08D47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CBF81F-C3CF-4C07-AF35-9F8AC9003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80D1AA-686F-4647-A25F-55D0281E2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0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1AEF83-717D-4E6A-9478-F5CBEB4B4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810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DEPLOYMENT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08A018-39D2-48A1-A4D9-3766D1972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6142E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6142E"/>
                </a:solidFill>
                <a:latin typeface="Aptos Display"/>
                <a:ea typeface="Aptos Display"/>
                <a:cs typeface="Aptos Display"/>
              </a:rPr>
              <a:t>Docker today, AWS-ready architecture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8D31CF-E70B-4C4E-9542-7C6D65354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81125"/>
            <a:ext cx="828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Docker Compose packages the frontend, backend, and database locally. The same service split maps cleanly to AWS deployment.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8D9979-9E33-4F3B-A7DC-F26359617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43150"/>
            <a:ext cx="1619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F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51C266-9A3C-4645-897B-6DF1EAF3C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76500"/>
            <a:ext cx="1352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6142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6142E"/>
                </a:solidFill>
                <a:latin typeface="Aptos"/>
                <a:ea typeface="Aptos"/>
                <a:cs typeface="Aptos"/>
              </a:rPr>
              <a:t>React + Nginx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63D415-ADFC-4541-B5C5-E23DEC8D9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52725"/>
            <a:ext cx="1352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frontend container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9D2CDF-6679-4E5D-AE9B-C079AD3EF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695575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F26E87-BBEE-49F3-8D6E-3EDFED922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581275"/>
            <a:ext cx="247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9FDAC6-8D3E-4D22-8AFA-E288C6278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343150"/>
            <a:ext cx="1619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FE0F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C7EABA-EF9C-4AEF-B37E-D725BF7FF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476500"/>
            <a:ext cx="1352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6142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6142E"/>
                </a:solidFill>
                <a:latin typeface="Aptos"/>
                <a:ea typeface="Aptos"/>
                <a:cs typeface="Aptos"/>
              </a:rPr>
              <a:t>FastAPI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27DD42-C71D-4119-BEDD-6539B28A3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752725"/>
            <a:ext cx="1352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backend container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E70B7A-DC51-405E-8D8F-772D12CC5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695575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D0D884-9630-4C2D-8DD6-5B987946F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581275"/>
            <a:ext cx="247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D642A8-02E5-4AB2-ACDD-AEA32715D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343150"/>
            <a:ext cx="1619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F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143CE9-E85E-4DFC-B32F-732EDFD01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476500"/>
            <a:ext cx="1352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6142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6142E"/>
                </a:solidFill>
                <a:latin typeface="Aptos"/>
                <a:ea typeface="Aptos"/>
                <a:cs typeface="Aptos"/>
              </a:rPr>
              <a:t>PostgreSQL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B7E54C-90C5-48A6-ADC7-4AD5CBC6B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752725"/>
            <a:ext cx="1352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database service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6B2404-91F4-4085-A8D1-7A93D637A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695575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9339A7-0165-4511-915F-9BA75BAA9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581275"/>
            <a:ext cx="247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27142C-A78D-4593-AB3D-DCDA497AB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43150"/>
            <a:ext cx="1619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FE0F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7D70C1-77E2-4FB0-B643-CE8FBC71B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476500"/>
            <a:ext cx="1352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6142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6142E"/>
                </a:solidFill>
                <a:latin typeface="Aptos"/>
                <a:ea typeface="Aptos"/>
                <a:cs typeface="Aptos"/>
              </a:rPr>
              <a:t>Vector DB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792F14-F503-4FCD-A815-B921F0268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752725"/>
            <a:ext cx="1352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local / Pinecone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EC3473-FB8B-4B19-A7FC-FB68379FC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695575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D8366EB-1AC2-45E5-BEC9-8C1DCD934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581275"/>
            <a:ext cx="247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1A7D015-239E-46A0-A2BB-F9883579A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2343150"/>
            <a:ext cx="1143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F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9104676-302D-41A1-8D02-E920854AE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476500"/>
            <a:ext cx="876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6142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6142E"/>
                </a:solidFill>
                <a:latin typeface="Aptos"/>
                <a:ea typeface="Aptos"/>
                <a:cs typeface="Aptos"/>
              </a:rPr>
              <a:t>AWS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C4171B5-1C5F-46F4-BB00-F87FB5660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752725"/>
            <a:ext cx="8763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cloud target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4BA9DA9-D204-44D5-9A6A-6F40046E4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38600"/>
            <a:ext cx="27813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F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FA2970D-B219-4A50-A70F-8DC95EB02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210050"/>
            <a:ext cx="2362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142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6142E"/>
                </a:solidFill>
                <a:latin typeface="Aptos"/>
                <a:ea typeface="Aptos"/>
                <a:cs typeface="Aptos"/>
              </a:rPr>
              <a:t>Local command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9DC9194-7AC8-46BD-9069-F45B3D2FC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562475"/>
            <a:ext cx="2362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docker compose up --build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Runs the application stack for demo and testing.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D2F7F8F-C226-464C-B772-4684EAF48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038600"/>
            <a:ext cx="27813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F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9A9349A-FECC-4725-A9F4-BAF736498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210050"/>
            <a:ext cx="2362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142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6142E"/>
                </a:solidFill>
                <a:latin typeface="Aptos"/>
                <a:ea typeface="Aptos"/>
                <a:cs typeface="Aptos"/>
              </a:rPr>
              <a:t>AWS mapping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8E87942-9621-42BD-8EF4-098327F6D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562475"/>
            <a:ext cx="2362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EC2 or ECS for containers, RDS for Postgres, S3 for files, CloudWatch for logs.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B3D2B42-825D-4B94-A68B-0E3257E35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038600"/>
            <a:ext cx="27813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F6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6431F8C-26EC-4FDE-BCEC-3F5F1A4AA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210050"/>
            <a:ext cx="2362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142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6142E"/>
                </a:solidFill>
                <a:latin typeface="Aptos"/>
                <a:ea typeface="Aptos"/>
                <a:cs typeface="Aptos"/>
              </a:rPr>
              <a:t>Pinecone option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E604FCD-9EBC-4C14-8767-E1D8746AB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562475"/>
            <a:ext cx="2362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Switch VECTOR_DB_PROVIDER=pinecone and provide API key/index settings.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C11A20C-DA94-4C6E-931E-1407ED6C9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Enterprise Knowledge Intelligence Platform | 09</a:t>
            </a:r>
          </a:p>
        </p:txBody>
      </p:sp>
    </p:spTree>
    <p:extLst>
      <p:ext uri="{BB962C8B-B14F-4D97-AF65-F5344CB8AC3E}">
        <p14:creationId xmlns:p14="http://schemas.microsoft.com/office/powerpoint/2010/main" val="10888862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B03689F-90EE-4235-98C4-904BDD447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3ECE5B-5726-4E65-AE36-B1409DA47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C0A8AB-1338-4B3C-8D9E-D62DE933B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0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5D9D7E-0A40-4315-9201-065B214CE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810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STATUS AND ROADMAP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66C7DF-3084-4654-98E9-8AC54BB0C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6142E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6142E"/>
                </a:solidFill>
                <a:latin typeface="Aptos Display"/>
                <a:ea typeface="Aptos Display"/>
                <a:cs typeface="Aptos Display"/>
              </a:rPr>
              <a:t>What is complete and what comes next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AD4903-5230-417C-B2BC-45FD78C6E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81125"/>
            <a:ext cx="828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The core end-to-end platform is working. The remaining items are production upgrades and GPU/cloud execution.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740C9D-C182-4178-9AB0-9ED5D2FF8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3429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F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87D5AA-1CB8-4D6F-A672-4CC188D0B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666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7568E7-C315-4EEB-AB07-EFFA4CCA0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66950"/>
            <a:ext cx="3009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142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6142E"/>
                </a:solidFill>
                <a:latin typeface="Aptos"/>
                <a:ea typeface="Aptos"/>
                <a:cs typeface="Aptos"/>
              </a:rPr>
              <a:t>Completed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DBA5F6-4331-4BE4-8893-914152167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19375"/>
            <a:ext cx="30099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FastAPI backend</a:t>
            </a:r>
          </a:p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React dashboard</a:t>
            </a:r>
          </a:p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JWT login with Atul admin user</a:t>
            </a:r>
          </a:p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Document upload and retrieval</a:t>
            </a:r>
          </a:p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100 generated enterprise PDFs</a:t>
            </a:r>
          </a:p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Multi-agent Q&amp;A/report workflow</a:t>
            </a:r>
          </a:p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Evaluation dashboard</a:t>
            </a:r>
          </a:p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Docker packaging</a:t>
            </a:r>
          </a:p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Pinecone integration code</a:t>
            </a:r>
          </a:p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QLoRA dataset and training scaffold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F89A33-38E5-4C2B-93C3-530DC0685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95500"/>
            <a:ext cx="3429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F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227F46-73F5-4343-AC5C-E6B9143FA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95500"/>
            <a:ext cx="666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A4D863-6052-4449-B9F1-AD4981E56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266950"/>
            <a:ext cx="3009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142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6142E"/>
                </a:solidFill>
                <a:latin typeface="Aptos"/>
                <a:ea typeface="Aptos"/>
                <a:cs typeface="Aptos"/>
              </a:rPr>
              <a:t>Next build items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0087A1-A117-444F-88A0-5A73A67C3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619375"/>
            <a:ext cx="30099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Actual QLoRA training on GPU</a:t>
            </a:r>
          </a:p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Real AWS deployment</a:t>
            </a:r>
          </a:p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Real authentication/SSO</a:t>
            </a:r>
          </a:p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Production Pinecone index testing</a:t>
            </a:r>
          </a:p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Expanded real enterprise PDF dataset</a:t>
            </a:r>
          </a:p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Role-based document permissions</a:t>
            </a:r>
          </a:p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Monitoring and audit logs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8852C7-C161-4132-AD0F-92BB317A3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095500"/>
            <a:ext cx="3429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F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CC2799-4426-45CA-A436-321DD6BAD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095500"/>
            <a:ext cx="666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B479BA-DF7E-47F9-B449-44E447760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266950"/>
            <a:ext cx="3009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142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6142E"/>
                </a:solidFill>
                <a:latin typeface="Aptos"/>
                <a:ea typeface="Aptos"/>
                <a:cs typeface="Aptos"/>
              </a:rPr>
              <a:t>Interview summary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5F2186-2A67-440A-BB2D-73BE7D833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619375"/>
            <a:ext cx="30099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This project shows the full GenAI lifecycle: data, retrieval, agents, validation, evaluation, fine-tuning preparation, full-stack UI, containerization, and cloud-readiness.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7F61E1-057E-4282-8D80-1EE408BDE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483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744037-8D1A-42F7-80D0-24CDD6348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410200"/>
            <a:ext cx="895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614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6142E"/>
                </a:solidFill>
                <a:latin typeface="Aptos"/>
                <a:ea typeface="Aptos"/>
                <a:cs typeface="Aptos"/>
              </a:rPr>
              <a:t>Demo-ready story: ask a policy question, show sources, run evaluation, explain architecture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D6A5DF-DCD0-4F4E-82EB-24DBDF630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Enterprise Knowledge Intelligence Platform | 10</a:t>
            </a:r>
          </a:p>
        </p:txBody>
      </p:sp>
    </p:spTree>
    <p:extLst>
      <p:ext uri="{BB962C8B-B14F-4D97-AF65-F5344CB8AC3E}">
        <p14:creationId xmlns:p14="http://schemas.microsoft.com/office/powerpoint/2010/main" val="13453084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2026-06-06T11:55:48.0870000Z</dcterms:created>
  <dcterms:modified xsi:type="dcterms:W3CDTF">2026-06-06T11:55:48.0870000Z</dcterms:modified>
</coreProperties>
</file>